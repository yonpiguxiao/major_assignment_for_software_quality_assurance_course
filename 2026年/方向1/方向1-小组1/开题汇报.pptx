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embeddedFontLst>
    <p:embeddedFont>
      <p:font typeface="MiSans" pitchFamily="34" charset="-122"/>
      <p:regular r:id="rId25"/>
    </p:embeddedFont>
    <p:embeddedFont>
      <p:font typeface="MiSans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5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6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10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image" Target="../media/image18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notesSlide" Target="../notesSlides/notesSlide1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2846" t="2254" r="3013" b="8961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0585" y="1388745"/>
            <a:ext cx="7750810" cy="31381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HapFlow</a:t>
            </a:r>
            <a:r>
              <a:rPr lang="zh-CN" alt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</a:t>
            </a:r>
            <a:r>
              <a:rPr 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OpenHarmony污点分析框架开题汇报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616835" y="557339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5" name="Text 2"/>
          <p:cNvSpPr/>
          <p:nvPr/>
        </p:nvSpPr>
        <p:spPr>
          <a:xfrm>
            <a:off x="2516505" y="5614035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党成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62980" y="556323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7" name="Text 4"/>
          <p:cNvSpPr/>
          <p:nvPr/>
        </p:nvSpPr>
        <p:spPr>
          <a:xfrm>
            <a:off x="5988685" y="5614035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时间:2026/03/22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9" name="Shape 6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pic>
        <p:nvPicPr>
          <p:cNvPr id="10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5" y="5268595"/>
            <a:ext cx="6468110" cy="29845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p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5325" y="995045"/>
            <a:ext cx="3658870" cy="36588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6951345" y="1617345"/>
            <a:ext cx="6858635" cy="36233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848610" y="1078865"/>
            <a:ext cx="2884805" cy="5790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5DBB">
                    <a:alpha val="5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3"/>
          <p:cNvSpPr/>
          <p:nvPr>
            <p:custDataLst>
              <p:tags r:id="rId3"/>
            </p:custDataLst>
          </p:nvPr>
        </p:nvSpPr>
        <p:spPr>
          <a:xfrm>
            <a:off x="977376" y="205549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</p:spPr>
      </p:sp>
      <p:sp>
        <p:nvSpPr>
          <p:cNvPr id="8" name="Shape 4"/>
          <p:cNvSpPr/>
          <p:nvPr>
            <p:custDataLst>
              <p:tags r:id="rId4"/>
            </p:custDataLst>
          </p:nvPr>
        </p:nvSpPr>
        <p:spPr>
          <a:xfrm>
            <a:off x="1782458" y="205549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9" name="Shape 5"/>
          <p:cNvSpPr/>
          <p:nvPr>
            <p:custDataLst>
              <p:tags r:id="rId5"/>
            </p:custDataLst>
          </p:nvPr>
        </p:nvSpPr>
        <p:spPr>
          <a:xfrm>
            <a:off x="977376" y="292290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</p:spPr>
      </p:sp>
      <p:sp>
        <p:nvSpPr>
          <p:cNvPr id="10" name="Shape 6"/>
          <p:cNvSpPr/>
          <p:nvPr>
            <p:custDataLst>
              <p:tags r:id="rId6"/>
            </p:custDataLst>
          </p:nvPr>
        </p:nvSpPr>
        <p:spPr>
          <a:xfrm>
            <a:off x="1782458" y="292290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1" name="Shape 7"/>
          <p:cNvSpPr/>
          <p:nvPr>
            <p:custDataLst>
              <p:tags r:id="rId7"/>
            </p:custDataLst>
          </p:nvPr>
        </p:nvSpPr>
        <p:spPr>
          <a:xfrm>
            <a:off x="977376" y="379031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</p:spPr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1782458" y="379031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977376" y="465772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</p:spPr>
      </p:sp>
      <p:sp>
        <p:nvSpPr>
          <p:cNvPr id="14" name="Shape 10"/>
          <p:cNvSpPr/>
          <p:nvPr>
            <p:custDataLst>
              <p:tags r:id="rId10"/>
            </p:custDataLst>
          </p:nvPr>
        </p:nvSpPr>
        <p:spPr>
          <a:xfrm>
            <a:off x="1782457" y="4657725"/>
            <a:ext cx="5462240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5" name="Shape 11"/>
          <p:cNvSpPr/>
          <p:nvPr>
            <p:custDataLst>
              <p:tags r:id="rId11"/>
            </p:custDataLst>
          </p:nvPr>
        </p:nvSpPr>
        <p:spPr>
          <a:xfrm>
            <a:off x="977376" y="552513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</p:spPr>
      </p:sp>
      <p:sp>
        <p:nvSpPr>
          <p:cNvPr id="16" name="Shape 12"/>
          <p:cNvSpPr/>
          <p:nvPr>
            <p:custDataLst>
              <p:tags r:id="rId12"/>
            </p:custDataLst>
          </p:nvPr>
        </p:nvSpPr>
        <p:spPr>
          <a:xfrm>
            <a:off x="1782458" y="552513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63100" y="70481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8" name="Shape 14"/>
          <p:cNvSpPr/>
          <p:nvPr/>
        </p:nvSpPr>
        <p:spPr>
          <a:xfrm>
            <a:off x="9965355" y="522664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CFCFF"/>
          </a:solidFill>
        </p:spPr>
      </p:sp>
      <p:pic>
        <p:nvPicPr>
          <p:cNvPr id="19" name="Image 2" descr="https://kimi-img.moonshot.cn/pub/slides/slides_tmpl/image/25-09-08-12:55:42-d2v63jlnfo2stf9dk4s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8195" y="1015365"/>
            <a:ext cx="3432175" cy="3572510"/>
          </a:xfrm>
          <a:prstGeom prst="rect">
            <a:avLst/>
          </a:prstGeom>
        </p:spPr>
      </p:pic>
      <p:sp>
        <p:nvSpPr>
          <p:cNvPr id="20" name="Text 15"/>
          <p:cNvSpPr/>
          <p:nvPr>
            <p:custDataLst>
              <p:tags r:id="rId14"/>
            </p:custDataLst>
          </p:nvPr>
        </p:nvSpPr>
        <p:spPr>
          <a:xfrm>
            <a:off x="988302" y="2141816"/>
            <a:ext cx="656085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6"/>
          <p:cNvSpPr/>
          <p:nvPr>
            <p:custDataLst>
              <p:tags r:id="rId15"/>
            </p:custDataLst>
          </p:nvPr>
        </p:nvSpPr>
        <p:spPr>
          <a:xfrm>
            <a:off x="1875829" y="2209573"/>
            <a:ext cx="5185601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领域</a:t>
            </a:r>
            <a:r>
              <a:rPr lang="en-US" sz="24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</a:t>
            </a:r>
            <a:endParaRPr lang="zh-CN" altLang="en-US" sz="2400" b="1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7"/>
          <p:cNvSpPr/>
          <p:nvPr>
            <p:custDataLst>
              <p:tags r:id="rId16"/>
            </p:custDataLst>
          </p:nvPr>
        </p:nvSpPr>
        <p:spPr>
          <a:xfrm>
            <a:off x="988302" y="3009226"/>
            <a:ext cx="656085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8"/>
          <p:cNvSpPr/>
          <p:nvPr>
            <p:custDataLst>
              <p:tags r:id="rId17"/>
            </p:custDataLst>
          </p:nvPr>
        </p:nvSpPr>
        <p:spPr>
          <a:xfrm>
            <a:off x="1875829" y="3076983"/>
            <a:ext cx="5184608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HapFlow技术架构</a:t>
            </a:r>
            <a:endParaRPr lang="en-US" sz="1600" dirty="0"/>
          </a:p>
        </p:txBody>
      </p:sp>
      <p:sp>
        <p:nvSpPr>
          <p:cNvPr id="24" name="Text 19"/>
          <p:cNvSpPr/>
          <p:nvPr>
            <p:custDataLst>
              <p:tags r:id="rId18"/>
            </p:custDataLst>
          </p:nvPr>
        </p:nvSpPr>
        <p:spPr>
          <a:xfrm>
            <a:off x="988302" y="3876636"/>
            <a:ext cx="656085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0"/>
          <p:cNvSpPr/>
          <p:nvPr>
            <p:custDataLst>
              <p:tags r:id="rId19"/>
            </p:custDataLst>
          </p:nvPr>
        </p:nvSpPr>
        <p:spPr>
          <a:xfrm>
            <a:off x="1875829" y="3937432"/>
            <a:ext cx="5184608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项目价值与可行性</a:t>
            </a:r>
            <a:endParaRPr lang="en-US" sz="1600" dirty="0"/>
          </a:p>
        </p:txBody>
      </p:sp>
      <p:sp>
        <p:nvSpPr>
          <p:cNvPr id="26" name="Text 21"/>
          <p:cNvSpPr/>
          <p:nvPr>
            <p:custDataLst>
              <p:tags r:id="rId20"/>
            </p:custDataLst>
          </p:nvPr>
        </p:nvSpPr>
        <p:spPr>
          <a:xfrm>
            <a:off x="918770" y="4744046"/>
            <a:ext cx="793659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2"/>
          <p:cNvSpPr/>
          <p:nvPr>
            <p:custDataLst>
              <p:tags r:id="rId21"/>
            </p:custDataLst>
          </p:nvPr>
        </p:nvSpPr>
        <p:spPr>
          <a:xfrm>
            <a:off x="1875829" y="4804842"/>
            <a:ext cx="5184608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改进思路</a:t>
            </a:r>
            <a:endParaRPr lang="en-US" sz="1600" dirty="0"/>
          </a:p>
        </p:txBody>
      </p:sp>
      <p:sp>
        <p:nvSpPr>
          <p:cNvPr id="28" name="Text 23"/>
          <p:cNvSpPr/>
          <p:nvPr>
            <p:custDataLst>
              <p:tags r:id="rId22"/>
            </p:custDataLst>
          </p:nvPr>
        </p:nvSpPr>
        <p:spPr>
          <a:xfrm>
            <a:off x="988302" y="5611456"/>
            <a:ext cx="656085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4"/>
          <p:cNvSpPr/>
          <p:nvPr>
            <p:custDataLst>
              <p:tags r:id="rId23"/>
            </p:custDataLst>
          </p:nvPr>
        </p:nvSpPr>
        <p:spPr>
          <a:xfrm>
            <a:off x="1875829" y="5679213"/>
            <a:ext cx="5184608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实施计划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领域</a:t>
            </a: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19755" y="1664335"/>
            <a:ext cx="8328025" cy="2134870"/>
          </a:xfrm>
          <a:prstGeom prst="rect">
            <a:avLst/>
          </a:prstGeom>
          <a:solidFill>
            <a:srgbClr val="015DBB"/>
          </a:solidFill>
        </p:spPr>
      </p:sp>
      <p:pic>
        <p:nvPicPr>
          <p:cNvPr id="3" name="Image 0" descr="https://kimi-img.moonshot.cn/pub/slides/slides_tmpl/image/25-09-08-12:55:47-d2v63ktnfo2stf9dk500.jpeg"/>
          <p:cNvPicPr>
            <a:picLocks noChangeAspect="1"/>
          </p:cNvPicPr>
          <p:nvPr/>
        </p:nvPicPr>
        <p:blipFill>
          <a:blip r:embed="rId1"/>
          <a:srcRect l="14345" r="14345"/>
          <a:stretch>
            <a:fillRect/>
          </a:stretch>
        </p:blipFill>
        <p:spPr>
          <a:xfrm>
            <a:off x="745490" y="1664335"/>
            <a:ext cx="2282825" cy="2133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flipH="1">
            <a:off x="744855" y="3976370"/>
            <a:ext cx="8328025" cy="2134870"/>
          </a:xfrm>
          <a:prstGeom prst="rect">
            <a:avLst/>
          </a:prstGeom>
          <a:solidFill>
            <a:srgbClr val="015DBB"/>
          </a:solidFill>
        </p:spPr>
      </p:sp>
      <p:pic>
        <p:nvPicPr>
          <p:cNvPr id="5" name="Image 1" descr="https://kimi-img.moonshot.cn/pub/slides/slides_tmpl/image/25-09-08-12:55:48-d2v63l5nfo2stf9dk510.pn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9164320" y="3976370"/>
            <a:ext cx="2282825" cy="2133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5630" y="487045"/>
            <a:ext cx="924496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OpenHarmony生态崛起与安全分析需求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8045" y="1944370"/>
            <a:ext cx="7664450" cy="3948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OpenHarmony生态高速发展态势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3408045" y="2394585"/>
            <a:ext cx="7663180" cy="11886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OpenHarmony作为国产开源操作系统，已在物联网、智能终端等领域广泛应用，生态规模持续扩大。随着原生应用数量激增，应用安全与隐私保护问题日益凸显，对自动化安全分析工具的需求愈发迫切。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21410" y="4256405"/>
            <a:ext cx="7664400" cy="3948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污点分析技术的核心价值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21410" y="4706620"/>
            <a:ext cx="7754620" cy="11886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污点分析通过追踪敏感数据从源头到风险点的流向，是检测隐私泄露的关键静态分析技术。构建面向OpenHarmony的原生污点分析能力，对保障国产操作系统软件质量具有重要战略意义。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2-d2v63olnfo2stf9dk55g.png"/>
          <p:cNvPicPr>
            <a:picLocks noChangeAspect="1"/>
          </p:cNvPicPr>
          <p:nvPr/>
        </p:nvPicPr>
        <p:blipFill>
          <a:blip r:embed="rId1"/>
          <a:srcRect t="154" b="154"/>
          <a:stretch>
            <a:fillRect/>
          </a:stretch>
        </p:blipFill>
        <p:spPr>
          <a:xfrm>
            <a:off x="743585" y="1354455"/>
            <a:ext cx="10554335" cy="205422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2-d2v63olnfo2stf9dk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30" y="2901950"/>
            <a:ext cx="987425" cy="9874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ArkTS语言特性带来的分析挑战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6:02-d2v63olnfo2stf9dk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900" y="2917825"/>
            <a:ext cx="987425" cy="95440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8-12:56:02-d2v63olnfo2stf9dk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370" y="2927350"/>
            <a:ext cx="987425" cy="95440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881505" y="3128645"/>
            <a:ext cx="815340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721360" y="3910330"/>
            <a:ext cx="313499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声明式UI与隐式生命周期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721360" y="4283710"/>
            <a:ext cx="3134995" cy="1241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ArkTS采用声明式UI框架，组件生命周期由框架隐式管理，传统控制流分析难以捕获完整的执行路径，导致调用图构建困难。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5502275" y="3129280"/>
            <a:ext cx="815340" cy="5041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4412615" y="3910330"/>
            <a:ext cx="313499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闭包机制与跨作用域数据流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412615" y="4283710"/>
            <a:ext cx="3134995" cy="1241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ArkTS广泛使用闭包实现状态管理与回调处理，变量捕获形成复杂的跨作用域数据依赖，现有IFDS分析难以精准追踪此类数据流。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262745" y="3138805"/>
            <a:ext cx="815340" cy="5041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103870" y="3910330"/>
            <a:ext cx="313499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独特API生态的兼容性壁垒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103870" y="4283710"/>
            <a:ext cx="3134995" cy="15289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OpenHarmony拥有独立的权限体系与数据接口，与Android/Java生态差异显著。FlowDroid等工具无法直接适配，亟需开发原生支持ArkTS的污点分析框架。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8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HapFlow技术架构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8-d2v63q5nfo2stf9dk5b0.jpeg"/>
          <p:cNvPicPr>
            <a:picLocks noChangeAspect="1"/>
          </p:cNvPicPr>
          <p:nvPr/>
        </p:nvPicPr>
        <p:blipFill>
          <a:blip r:embed="rId1"/>
          <a:srcRect t="2051" b="2051"/>
          <a:stretch>
            <a:fillRect/>
          </a:stretch>
        </p:blipFill>
        <p:spPr>
          <a:xfrm flipH="1">
            <a:off x="767080" y="3754755"/>
            <a:ext cx="3467100" cy="22167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10075" y="3754755"/>
            <a:ext cx="6898005" cy="2216785"/>
          </a:xfrm>
          <a:prstGeom prst="roundRect">
            <a:avLst>
              <a:gd name="adj" fmla="val 5520"/>
            </a:avLst>
          </a:prstGeom>
          <a:solidFill>
            <a:srgbClr val="015DBB"/>
          </a:solidFill>
        </p:spPr>
      </p:sp>
      <p:sp>
        <p:nvSpPr>
          <p:cNvPr id="4" name="Shape 1"/>
          <p:cNvSpPr/>
          <p:nvPr/>
        </p:nvSpPr>
        <p:spPr>
          <a:xfrm rot="16200000">
            <a:off x="3799840" y="-734060"/>
            <a:ext cx="36195" cy="5939790"/>
          </a:xfrm>
          <a:prstGeom prst="rect">
            <a:avLst/>
          </a:prstGeom>
          <a:gradFill flip="none" rotWithShape="1">
            <a:gsLst>
              <a:gs pos="0">
                <a:srgbClr val="9EBDF6">
                  <a:alpha val="0"/>
                </a:srgbClr>
              </a:gs>
              <a:gs pos="100000">
                <a:srgbClr val="1E46EB"/>
              </a:gs>
            </a:gsLst>
            <a:lin ang="16200000" scaled="1"/>
          </a:gradFill>
        </p:spPr>
      </p:sp>
      <p:sp>
        <p:nvSpPr>
          <p:cNvPr id="5" name="Text 2"/>
          <p:cNvSpPr/>
          <p:nvPr/>
        </p:nvSpPr>
        <p:spPr>
          <a:xfrm>
            <a:off x="595630" y="525145"/>
            <a:ext cx="822325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基于ArkAnalyzer的HapFlow整体架构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150" y="1655445"/>
            <a:ext cx="10554970" cy="524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技术底座与开创性意义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9150" y="2330450"/>
            <a:ext cx="10554335" cy="8044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HapFlow构建于开源ArkAnalyzer静态分析框架之上，是业界首个面向OpenHarmony的原生污点分析工具。其填补了该生态在隐私泄露自动化检测领域的技术空白，具有开创性学术与工程价值。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66920" y="3982720"/>
            <a:ext cx="6375600" cy="3948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核心能力与技术层次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66920" y="4432935"/>
            <a:ext cx="6377305" cy="10423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工具链涵盖敏感数据流追踪、隐私泄露检测等核心能力，通过HarmonyMain构建、Source/Sink提取、IFDS扩展三大模块协同工作，实现从代码解析到污点传播分析的完整技术闭环。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490" y="1475105"/>
            <a:ext cx="3524250" cy="2437765"/>
          </a:xfrm>
          <a:prstGeom prst="rect">
            <a:avLst/>
          </a:prstGeom>
          <a:solidFill>
            <a:srgbClr val="015DBB"/>
          </a:solidFill>
        </p:spPr>
      </p:sp>
      <p:pic>
        <p:nvPicPr>
          <p:cNvPr id="3" name="Image 0" descr="https://kimi-img.moonshot.cn/pub/slides/slides_tmpl/image/25-09-08-12:56:03-d2v63otnfo2stf9dk570.jpeg"/>
          <p:cNvPicPr>
            <a:picLocks noChangeAspect="1"/>
          </p:cNvPicPr>
          <p:nvPr/>
        </p:nvPicPr>
        <p:blipFill>
          <a:blip r:embed="rId1"/>
          <a:srcRect l="-8" t="512" r="8" b="512"/>
          <a:stretch>
            <a:fillRect/>
          </a:stretch>
        </p:blipFill>
        <p:spPr>
          <a:xfrm>
            <a:off x="745490" y="3977005"/>
            <a:ext cx="3524885" cy="23431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5290" y="1475105"/>
            <a:ext cx="3524250" cy="2437765"/>
          </a:xfrm>
          <a:prstGeom prst="rect">
            <a:avLst/>
          </a:prstGeom>
          <a:solidFill>
            <a:srgbClr val="015DBB"/>
          </a:solidFill>
        </p:spPr>
      </p:sp>
      <p:pic>
        <p:nvPicPr>
          <p:cNvPr id="5" name="Image 1" descr="https://kimi-img.moonshot.cn/pub/slides/slides_tmpl/image/25-09-08-12:56:00-d2v63o5nfo2stf9dk550.png"/>
          <p:cNvPicPr>
            <a:picLocks noChangeAspect="1"/>
          </p:cNvPicPr>
          <p:nvPr/>
        </p:nvPicPr>
        <p:blipFill>
          <a:blip r:embed="rId2"/>
          <a:srcRect l="-8" t="24" r="8" b="24"/>
          <a:stretch>
            <a:fillRect/>
          </a:stretch>
        </p:blipFill>
        <p:spPr>
          <a:xfrm>
            <a:off x="8035290" y="3977005"/>
            <a:ext cx="3524885" cy="23431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390390" y="3882390"/>
            <a:ext cx="3524250" cy="2437765"/>
          </a:xfrm>
          <a:prstGeom prst="rect">
            <a:avLst/>
          </a:prstGeom>
          <a:solidFill>
            <a:srgbClr val="015DBB"/>
          </a:solidFill>
        </p:spPr>
      </p:sp>
      <p:pic>
        <p:nvPicPr>
          <p:cNvPr id="7" name="Image 2" descr="https://kimi-img.moonshot.cn/pub/slides/slides_tmpl/image/25-09-08-12:55:47-d2v63ktnfo2stf9dk4v0.jpeg"/>
          <p:cNvPicPr>
            <a:picLocks noChangeAspect="1"/>
          </p:cNvPicPr>
          <p:nvPr/>
        </p:nvPicPr>
        <p:blipFill>
          <a:blip r:embed="rId3"/>
          <a:srcRect l="7696" r="7696"/>
          <a:stretch>
            <a:fillRect/>
          </a:stretch>
        </p:blipFill>
        <p:spPr>
          <a:xfrm>
            <a:off x="4390390" y="1475105"/>
            <a:ext cx="3524885" cy="23431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HarmonyMain虚拟入口构建机制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4725" y="1602740"/>
            <a:ext cx="3219450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声明式UI的分析难题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974725" y="1957070"/>
            <a:ext cx="3140710" cy="17621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ArkUI采用声明式语法描述界面结构，组件与逻辑分散定义，传统方法难以识别隐式生命周期回调的调用关系。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02930" y="1602740"/>
            <a:ext cx="314134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虚拟入口函数构建原理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218170" y="1957070"/>
            <a:ext cx="3220085" cy="17106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通过静态分析识别页面路由、事件绑定、状态变更等关键节点，合成统一的HarmonyMain虚拟入口，将分散组件转化为完整调用图。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42950" y="4010025"/>
            <a:ext cx="3141621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程序依赖基础的精准捕获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42950" y="4364355"/>
            <a:ext cx="3219746" cy="17964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该机制突破了声明式框架的分析瓶颈，为后续污点传播提供完备的程序依赖信息，是保障分析完整性的关键创新。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595" y="1928495"/>
            <a:ext cx="4681855" cy="31089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55-d2v63mtnfo2stf9dk5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1928495"/>
            <a:ext cx="4681855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5630" y="525145"/>
            <a:ext cx="823341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Source/Sink智能提取与IFDS扩展分析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5396230"/>
            <a:ext cx="12192635" cy="14706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89355" y="2105660"/>
            <a:ext cx="4222115" cy="3948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LLM驱动的敏感API知识库构建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189355" y="2559685"/>
            <a:ext cx="4224020" cy="192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采用大语言模型自动识别OpenHarmony敏感API，结合专家验证完成Source/Sink分类。该方法覆盖系统独有权限体系与数据接口，构建了高质量的隐私风险点知识库，支持精准的数据源与汇聚点识别。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764655" y="2105660"/>
            <a:ext cx="4222115" cy="3948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面向闭包的IFDS框架扩展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764655" y="2559685"/>
            <a:ext cx="4224020" cy="192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在传统IFDS分析基础上扩展ArkIR中间表示，专门处理闭包引发的跨函数数据流问题。通过上下文敏感的传播规则设计，实现变量捕获、回调执行的精准建模，在分析精度与计算效率间取得平衡。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8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项目价值与可行性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4-d2v63p5nfo2stf9dk59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96580" y="1719580"/>
            <a:ext cx="322453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4-d2v63p5nfo2stf9dk59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98340" y="1719580"/>
            <a:ext cx="322453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9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7090" y="1719580"/>
            <a:ext cx="3224530" cy="443801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课程契合度与技术前沿性分析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6"/>
            </p:custDataLst>
          </p:nvPr>
        </p:nvSpPr>
        <p:spPr>
          <a:xfrm>
            <a:off x="1207135" y="2134235"/>
            <a:ext cx="2631440" cy="730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与课程核心目标的深度契合</a:t>
            </a:r>
            <a:endParaRPr lang="en-US" sz="1600" dirty="0"/>
          </a:p>
        </p:txBody>
      </p:sp>
      <p:sp>
        <p:nvSpPr>
          <p:cNvPr id="8" name="Text 2"/>
          <p:cNvSpPr/>
          <p:nvPr>
            <p:custDataLst>
              <p:tags r:id="rId7"/>
            </p:custDataLst>
          </p:nvPr>
        </p:nvSpPr>
        <p:spPr>
          <a:xfrm>
            <a:off x="1207135" y="2945765"/>
            <a:ext cx="263144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项目紧扣《软件质量保障》课程核心，将静态分析理论应用于真实操作系统安全场景，实现知识向能力的转化。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8"/>
            </p:custDataLst>
          </p:nvPr>
        </p:nvSpPr>
        <p:spPr>
          <a:xfrm>
            <a:off x="4896485" y="2134235"/>
            <a:ext cx="2631440" cy="730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前沿技术方向的学术价值</a:t>
            </a: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9"/>
            </p:custDataLst>
          </p:nvPr>
        </p:nvSpPr>
        <p:spPr>
          <a:xfrm>
            <a:off x="4896485" y="2945765"/>
            <a:ext cx="2639060" cy="1706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聚焦国产操作系统隐私安全这一前沿领</a:t>
            </a:r>
            <a:r>
              <a:rPr lang="zh-CN" alt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域</a:t>
            </a: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，填补OpenHarmony 原生污点分析工具空白，具有显著创新性与应用前景。</a:t>
            </a:r>
            <a:endParaRPr lang="en-US" sz="1600" dirty="0"/>
          </a:p>
        </p:txBody>
      </p:sp>
      <p:sp>
        <p:nvSpPr>
          <p:cNvPr id="11" name="Text 5"/>
          <p:cNvSpPr/>
          <p:nvPr>
            <p:custDataLst>
              <p:tags r:id="rId10"/>
            </p:custDataLst>
          </p:nvPr>
        </p:nvSpPr>
        <p:spPr>
          <a:xfrm>
            <a:off x="8585835" y="2134235"/>
            <a:ext cx="2631440" cy="730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工业级工具建设的实践意义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1"/>
            </p:custDataLst>
          </p:nvPr>
        </p:nvSpPr>
        <p:spPr>
          <a:xfrm>
            <a:off x="8585835" y="2945765"/>
            <a:ext cx="263144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参与开源安全工具开发，深入理解工业级代码分析技术架构，全面提升软件工程实践与系统构建能力。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7-d2v63ktnfo2stf9dk50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1530350"/>
            <a:ext cx="10719435" cy="4785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70780" y="3807460"/>
            <a:ext cx="6037580" cy="0"/>
          </a:xfrm>
          <a:prstGeom prst="line">
            <a:avLst/>
          </a:prstGeom>
          <a:noFill/>
          <a:ln w="12700">
            <a:solidFill>
              <a:srgbClr val="1E46EB"/>
            </a:solidFill>
            <a:prstDash val="dash"/>
            <a:headEnd type="none"/>
            <a:tailEnd type="none"/>
          </a:ln>
        </p:spPr>
      </p:sp>
      <p:pic>
        <p:nvPicPr>
          <p:cNvPr id="4" name="Image 1" descr="https://kimi-img.moonshot.cn/pub/slides/slides_tmpl/image/25-09-08-12:55:50-d2v63llnfo2stf9dk51g.jpeg"/>
          <p:cNvPicPr>
            <a:picLocks noChangeAspect="1"/>
          </p:cNvPicPr>
          <p:nvPr/>
        </p:nvPicPr>
        <p:blipFill>
          <a:blip r:embed="rId2"/>
          <a:srcRect l="31682" t="7916" r="21872" b="17343"/>
          <a:stretch>
            <a:fillRect/>
          </a:stretch>
        </p:blipFill>
        <p:spPr>
          <a:xfrm>
            <a:off x="1231900" y="1927225"/>
            <a:ext cx="3500120" cy="3747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5630" y="487045"/>
            <a:ext cx="7004685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HapBench基准测试与扩展空间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816475" y="1937385"/>
            <a:ext cx="621855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HapBench测试集的可复现性保障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816475" y="2324735"/>
            <a:ext cx="6292850" cy="10514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论文提供含67个针对性测试用例的HapBench基准集，覆盖典型污点传播场景。该资源支撑完整基线实验复现，确保中档评分要求的达成，降低项目技术风险。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890770" y="3990340"/>
            <a:ext cx="621855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模块化架构的扩展便利性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890770" y="4377690"/>
            <a:ext cx="6292850" cy="10514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HapFlow基于开源ArkAnalyzer构建，模块边界清晰。三大核心组件提供明确代码切入点，便于实施功能增强与算法改进，为冲击高档评分预留充分技术空间。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改进思路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3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95" y="1249680"/>
            <a:ext cx="1257935" cy="14147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9475" y="4445"/>
            <a:ext cx="4962525" cy="6854190"/>
          </a:xfrm>
          <a:custGeom>
            <a:avLst/>
            <a:gdLst/>
            <a:ahLst/>
            <a:cxnLst/>
            <a:rect l="l" t="t" r="r" b="b"/>
            <a:pathLst>
              <a:path w="5321300" h="6854190">
                <a:moveTo>
                  <a:pt x="853585" y="0"/>
                </a:moveTo>
                <a:lnTo>
                  <a:pt x="5321300" y="0"/>
                </a:lnTo>
                <a:lnTo>
                  <a:pt x="5321300" y="6854190"/>
                </a:lnTo>
                <a:lnTo>
                  <a:pt x="916820" y="6854190"/>
                </a:lnTo>
                <a:lnTo>
                  <a:pt x="813147" y="6679520"/>
                </a:lnTo>
                <a:cubicBezTo>
                  <a:pt x="305157" y="5781193"/>
                  <a:pt x="0" y="4629518"/>
                  <a:pt x="0" y="3373826"/>
                </a:cubicBezTo>
                <a:cubicBezTo>
                  <a:pt x="0" y="2118134"/>
                  <a:pt x="305157" y="966458"/>
                  <a:pt x="813146" y="68131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4" name="Shape 1"/>
          <p:cNvSpPr/>
          <p:nvPr/>
        </p:nvSpPr>
        <p:spPr>
          <a:xfrm>
            <a:off x="1056005" y="1828800"/>
            <a:ext cx="10176510" cy="3943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2DA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44578" y="2144395"/>
            <a:ext cx="0" cy="3312160"/>
          </a:xfrm>
          <a:prstGeom prst="straightConnector1">
            <a:avLst/>
          </a:prstGeom>
          <a:noFill/>
          <a:ln w="12700">
            <a:solidFill>
              <a:srgbClr val="0B207A"/>
            </a:solidFill>
            <a:prstDash val="dash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95630" y="525145"/>
            <a:ext cx="762508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数组字段敏感性与跨文件别名优化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9078" y="2271395"/>
            <a:ext cx="4285615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数组字段敏感性优化方案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09078" y="2775585"/>
            <a:ext cx="4284228" cy="1554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当前工具对数组、Map等结构采用保守策略，单元素污染即标记整体，导致高误报率。改进方案在ArkIR层面引入索引与键值追踪机制，实现元素级细粒度分析，显著提升精度。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94463" y="2271395"/>
            <a:ext cx="4285615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跨文件别名分析增强策略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94463" y="2775585"/>
            <a:ext cx="4284228" cy="1554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现有工具无法判定不同路径是否指向同一物理文件，造成文件I/O操作漏报。拟构建轻量级全局文件别名追踪模块，建立路径与实体的映射关系，完善跨文件数据流分析能力。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975" y="1662430"/>
            <a:ext cx="325501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445" y="1651000"/>
            <a:ext cx="325501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" y="1662430"/>
            <a:ext cx="3255010" cy="443801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943100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6" name="Shape 1"/>
          <p:cNvSpPr/>
          <p:nvPr/>
        </p:nvSpPr>
        <p:spPr>
          <a:xfrm>
            <a:off x="5540375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7" name="Shape 2"/>
          <p:cNvSpPr/>
          <p:nvPr/>
        </p:nvSpPr>
        <p:spPr>
          <a:xfrm>
            <a:off x="9137650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8" name="Text 3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异步执行建模与IFDS图扩展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363585" y="1651000"/>
            <a:ext cx="4064000" cy="2660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1982590" y="2076518"/>
            <a:ext cx="993526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106170" y="3067685"/>
            <a:ext cx="274637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同步假设的局限性分析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106170" y="3688715"/>
            <a:ext cx="2746375" cy="1241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HapFlow当前假设全同步执行，未建模异步任务调度，与OpenHarmony事件驱动架构存在差距。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579865" y="2076518"/>
            <a:ext cx="993526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703445" y="3067685"/>
            <a:ext cx="2746375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Promise与Async/Await的广泛应用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703445" y="3688715"/>
            <a:ext cx="2746375" cy="9538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实际代码大量使用异步模式处理网络请求、文件读写等操作，形成跨上下文的数据流传播路径。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77140" y="2076518"/>
            <a:ext cx="993526" cy="654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300720" y="3067685"/>
            <a:ext cx="274637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IFDS图的异步边扩展方案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00720" y="3688715"/>
            <a:ext cx="2746375" cy="15289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在传播图中增加异步回调链条边处理，捕捉跨上下文敏感数据流，实现真实运行时行为的精确建模，是冲击高档评分的核心技术方向。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8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实施计划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2-d2v63olnfo2stf9dk5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1923415"/>
            <a:ext cx="3718560" cy="3718560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>
            <a:off x="3547110" y="1637030"/>
            <a:ext cx="913130" cy="91313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4" name="Shape 1"/>
          <p:cNvSpPr/>
          <p:nvPr>
            <p:custDataLst>
              <p:tags r:id="rId3"/>
            </p:custDataLst>
          </p:nvPr>
        </p:nvSpPr>
        <p:spPr>
          <a:xfrm>
            <a:off x="4036060" y="3326130"/>
            <a:ext cx="913130" cy="91313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5" name="Shape 2"/>
          <p:cNvSpPr/>
          <p:nvPr>
            <p:custDataLst>
              <p:tags r:id="rId4"/>
            </p:custDataLst>
          </p:nvPr>
        </p:nvSpPr>
        <p:spPr>
          <a:xfrm>
            <a:off x="3547110" y="5015230"/>
            <a:ext cx="913130" cy="91313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6" name="Text 3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迭代开发与成果交付规划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8-12:56:04-d2v63p5nfo2stf9dk58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" y="2012315"/>
            <a:ext cx="3340735" cy="3481070"/>
          </a:xfrm>
          <a:prstGeom prst="rect">
            <a:avLst/>
          </a:prstGeom>
        </p:spPr>
      </p:pic>
      <p:sp>
        <p:nvSpPr>
          <p:cNvPr id="9" name="Text 4"/>
          <p:cNvSpPr/>
          <p:nvPr>
            <p:custDataLst>
              <p:tags r:id="rId7"/>
            </p:custDataLst>
          </p:nvPr>
        </p:nvSpPr>
        <p:spPr>
          <a:xfrm>
            <a:off x="3571875" y="1804670"/>
            <a:ext cx="863600" cy="539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4516120" y="1638935"/>
            <a:ext cx="665162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环境搭建与基线复现阶段</a:t>
            </a:r>
            <a:endParaRPr lang="en-US" sz="16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4516120" y="2012315"/>
            <a:ext cx="6848475" cy="666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完成ArkAnalyzer与HapFlow环境部署，跑通HapBench测试集，验证基线分析能力，确保中档评分基础达成。</a:t>
            </a:r>
            <a:endParaRPr lang="en-US" sz="1600" dirty="0"/>
          </a:p>
        </p:txBody>
      </p:sp>
      <p:sp>
        <p:nvSpPr>
          <p:cNvPr id="12" name="Text 7"/>
          <p:cNvSpPr/>
          <p:nvPr>
            <p:custDataLst>
              <p:tags r:id="rId10"/>
            </p:custDataLst>
          </p:nvPr>
        </p:nvSpPr>
        <p:spPr>
          <a:xfrm>
            <a:off x="4060825" y="3493770"/>
            <a:ext cx="863600" cy="539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8"/>
          <p:cNvSpPr/>
          <p:nvPr>
            <p:custDataLst>
              <p:tags r:id="rId11"/>
            </p:custDataLst>
          </p:nvPr>
        </p:nvSpPr>
        <p:spPr>
          <a:xfrm>
            <a:off x="5005070" y="3328035"/>
            <a:ext cx="665162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核心改进与对比实验阶段</a:t>
            </a:r>
            <a:endParaRPr lang="en-US" sz="1600" dirty="0"/>
          </a:p>
        </p:txBody>
      </p:sp>
      <p:sp>
        <p:nvSpPr>
          <p:cNvPr id="14" name="Text 9"/>
          <p:cNvSpPr/>
          <p:nvPr>
            <p:custDataLst>
              <p:tags r:id="rId12"/>
            </p:custDataLst>
          </p:nvPr>
        </p:nvSpPr>
        <p:spPr>
          <a:xfrm>
            <a:off x="5005070" y="3701415"/>
            <a:ext cx="6795770" cy="666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主攻数组敏感性或异步建模改进方向，修改底层传播逻辑，设计对照实验量化准确率提升，冲刺高档评分。</a:t>
            </a:r>
            <a:endParaRPr lang="en-US" sz="1600" dirty="0"/>
          </a:p>
        </p:txBody>
      </p:sp>
      <p:sp>
        <p:nvSpPr>
          <p:cNvPr id="15" name="Text 10"/>
          <p:cNvSpPr/>
          <p:nvPr>
            <p:custDataLst>
              <p:tags r:id="rId13"/>
            </p:custDataLst>
          </p:nvPr>
        </p:nvSpPr>
        <p:spPr>
          <a:xfrm>
            <a:off x="3571875" y="5182870"/>
            <a:ext cx="863600" cy="539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1"/>
          <p:cNvSpPr/>
          <p:nvPr>
            <p:custDataLst>
              <p:tags r:id="rId14"/>
            </p:custDataLst>
          </p:nvPr>
        </p:nvSpPr>
        <p:spPr>
          <a:xfrm>
            <a:off x="4516120" y="5017135"/>
            <a:ext cx="665162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成果固化与开源贡献阶段</a:t>
            </a:r>
            <a:endParaRPr lang="en-US" sz="1600" dirty="0"/>
          </a:p>
        </p:txBody>
      </p:sp>
      <p:sp>
        <p:nvSpPr>
          <p:cNvPr id="17" name="Text 12"/>
          <p:cNvSpPr/>
          <p:nvPr>
            <p:custDataLst>
              <p:tags r:id="rId15"/>
            </p:custDataLst>
          </p:nvPr>
        </p:nvSpPr>
        <p:spPr>
          <a:xfrm>
            <a:off x="4516120" y="5390515"/>
            <a:ext cx="6978650" cy="65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整理实验数据，撰写报告，优化代码质量并推送至GitHub开源社区，完成项目闭环交付。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6625" t="8858" r="11055" b="15857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4451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3600" y="4795520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7" name="Text 3"/>
          <p:cNvSpPr/>
          <p:nvPr/>
        </p:nvSpPr>
        <p:spPr>
          <a:xfrm>
            <a:off x="828675" y="4847590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党成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519170" y="4795520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9" name="Text 5"/>
          <p:cNvSpPr/>
          <p:nvPr/>
        </p:nvSpPr>
        <p:spPr>
          <a:xfrm>
            <a:off x="3484245" y="4847590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时间:2026/03/22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2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3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4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5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6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7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8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9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0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1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2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3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4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5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6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7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8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19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20.xml><?xml version="1.0" encoding="utf-8"?>
<p:tagLst xmlns:p="http://schemas.openxmlformats.org/presentationml/2006/main">
  <p:tag name="KSO_WM_DIAGRAM_VIRTUALLY_FRAME" val="{&quot;height&quot;:325.2,&quot;left&quot;:72.34409448818897,&quot;top&quot;:161.85,&quot;width&quot;:498.1044881889764}"/>
</p:tagLst>
</file>

<file path=ppt/tags/tag21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2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3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4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5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6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7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8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9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30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1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2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3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4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5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6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7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8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39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40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ags/tag41.xml><?xml version="1.0" encoding="utf-8"?>
<p:tagLst xmlns:p="http://schemas.openxmlformats.org/presentationml/2006/main">
  <p:tag name="KSO_WM_DIAGRAM_VIRTUALLY_FRAME" val="{&quot;height&quot;:348.01559055118116,&quot;left&quot;:279.3,&quot;top&quot;:128.9,&quot;width&quot;:649.9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演示</Application>
  <PresentationFormat>On-screen Show (16:9)</PresentationFormat>
  <Paragraphs>198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HapFlow：OpenHarmony污点分析框架开题汇报</dc:title>
  <dc:creator>Kimi</dc:creator>
  <dc:subject>HapFlow：OpenHarmony污点分析框架开题汇报</dc:subject>
  <cp:lastModifiedBy>飞飞同学</cp:lastModifiedBy>
  <cp:revision>4</cp:revision>
  <dcterms:created xsi:type="dcterms:W3CDTF">2026-03-15T08:37:00Z</dcterms:created>
  <dcterms:modified xsi:type="dcterms:W3CDTF">2026-03-15T09:16:30Z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apFlow：OpenHarmony污点分析框架开题汇报","ContentProducer":"001191110108MACG2KBH8F10000","ProduceID":"19cf0a0b-3672-829e-8000-0000765f6fac","ReservedCode1":"","ContentPropagator":"001191110108MACG2KBH8F20000","PropagateID":"19cf0a0b-3672-829e-8000-0000765f6fac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FED3FED8D67C47569C84E5768DCC597C_12</vt:lpwstr>
  </property>
</Properties>
</file>